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anit Light"/>
      <p:regular r:id="rId201314"/>
    </p:embeddedFont>
    <p:embeddedFont>
      <p:font typeface="Martel Sans"/>
      <p:regular r:id="rId201315"/>
    </p:embeddedFont>
    <p:embeddedFont>
      <p:font typeface="Martel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1.jpe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3.png"/><Relationship Id="rId8" Type="http://schemas.openxmlformats.org/officeDocument/2006/relationships/image" Target="../media/image-10-4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8632"/>
            <a:ext cx="2219369" cy="287139"/>
          </a:xfrm>
          <a:prstGeom prst="roundRect">
            <a:avLst>
              <a:gd name="adj" fmla="val 22118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35286"/>
            <a:ext cx="26021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MIET · CSE – DATA SCIENCE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413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DeciXAI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15493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Explainable Decision Intelligence System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661475" y="44293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Hybrid AI Framework for Transparent, Explainable, and Actionable Decision Making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99159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C324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52768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Presented by: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Prachi · Riyanshi Verma · Ritika Bhati · Riya Singhal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012"/>
            <a:ext cx="187350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26666"/>
            <a:ext cx="225627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27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Black-Box Problem in AI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068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AI/ML systems excel at prediction but fail to answer the questions that matter most — leaving high-stakes decisions opaque and untrustworthy.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62433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281969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22838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Why was a particular prediction generated?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62433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81969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Which Factors?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22838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What drove the decision?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1517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11053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If?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51921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What can be changed to improve the outcome?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915172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11053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Reliable?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51921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Is the prediction robust and unbiased?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22962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FECE9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497314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46586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Core Challenge: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How can AI move beyond prediction to provide transparent, actionable decision support — especially in career placement, financial risk, and policy analysis?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28367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424646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PROPOSED SOLUTION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Introducing DeciXAI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 is a hybrid Decision Intelligence framework that unifies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Machine Learning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Explainable AI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and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LLM-based Natural Language Generation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answering not just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what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will happen, but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why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 confident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we are, and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what to do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next.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1475" y="291465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Capabilities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895" y="3120082"/>
            <a:ext cx="141681" cy="1416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8549" y="3115370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ML-based prediction with confidence scoring</a:t>
            </a:r>
            <a:endParaRPr lang="en-US" sz="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3502769"/>
            <a:ext cx="141681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8549" y="3498056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SHAP/LIME feature attribution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895" y="3885456"/>
            <a:ext cx="141681" cy="141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549" y="3880743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Counterfactual "What-if" analysis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895" y="4268143"/>
            <a:ext cx="141681" cy="141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8549" y="4263430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Risk, fairness &amp; robustness evaluation</a:t>
            </a:r>
            <a:endParaRPr lang="en-US" sz="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895" y="4650829"/>
            <a:ext cx="141681" cy="141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8549" y="4646116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Natural-language recommendations</a:t>
            </a:r>
            <a:endParaRPr lang="en-US" sz="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487" y="1267817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04862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50114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SYSTEM 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End-to-End Architecture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DeciXAI's modular pipeline processes raw input through domain adaptation, ML prediction, explainability, and LLM interpretation — delivering a unified decision dashboard.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4735"/>
            <a:ext cx="9753356" cy="5486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6754217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FEC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825059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8450" y="6825059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Design Advantage: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Shared XAI Kernel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is reusable across Career, Finance, and Policy domains — only the Domain Adapter Layer changes per use case.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098"/>
            <a:ext cx="1690645" cy="210741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717" y="600670"/>
            <a:ext cx="2133745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DEVELOPMENT PROCEDURE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1051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Systematic 10-Step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397198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1475" y="1613892"/>
            <a:ext cx="53833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721346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Identification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1999357"/>
            <a:ext cx="53833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limitations of black-box systems.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46745" y="1397198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6745" y="1613892"/>
            <a:ext cx="53834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745" y="1721346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Domain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46745" y="1999357"/>
            <a:ext cx="53834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Study decision requirements across domains.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239791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2614613"/>
            <a:ext cx="53833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2722066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1475" y="3000077"/>
            <a:ext cx="53833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Gather domain-specific datasets.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46745" y="239791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6745" y="2614613"/>
            <a:ext cx="53834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6146745" y="2722066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46745" y="3000077"/>
            <a:ext cx="53834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Handle missing values, encode, normalize.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1475" y="339863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1475" y="3615333"/>
            <a:ext cx="53833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3722787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Development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1475" y="4000798"/>
            <a:ext cx="53833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and evaluate ML models.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46745" y="339863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6745" y="3615333"/>
            <a:ext cx="53834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7" name="Text 25"/>
          <p:cNvSpPr/>
          <p:nvPr/>
        </p:nvSpPr>
        <p:spPr>
          <a:xfrm>
            <a:off x="6146745" y="3722787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XAI Integration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46745" y="4000798"/>
            <a:ext cx="53834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SHAP/LIME attribution.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1475" y="439935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1475" y="4616053"/>
            <a:ext cx="53833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31" name="Text 29"/>
          <p:cNvSpPr/>
          <p:nvPr/>
        </p:nvSpPr>
        <p:spPr>
          <a:xfrm>
            <a:off x="661475" y="4723507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Counterfactual Analysis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1475" y="5001518"/>
            <a:ext cx="53833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"What-if" scenarios.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46745" y="439935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46745" y="4616053"/>
            <a:ext cx="53834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35" name="Text 33"/>
          <p:cNvSpPr/>
          <p:nvPr/>
        </p:nvSpPr>
        <p:spPr>
          <a:xfrm>
            <a:off x="6146745" y="4723507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 Intelligence Layer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46745" y="5001518"/>
            <a:ext cx="53834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 prediction, explanation, and risk.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1475" y="5400080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09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1475" y="5616773"/>
            <a:ext cx="53833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39" name="Text 37"/>
          <p:cNvSpPr/>
          <p:nvPr/>
        </p:nvSpPr>
        <p:spPr>
          <a:xfrm>
            <a:off x="661475" y="5724227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LLM Integration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1475" y="6002238"/>
            <a:ext cx="53833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Convert outputs to natural language.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46745" y="5400080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46745" y="5616773"/>
            <a:ext cx="538347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43" name="Text 41"/>
          <p:cNvSpPr/>
          <p:nvPr/>
        </p:nvSpPr>
        <p:spPr>
          <a:xfrm>
            <a:off x="6146745" y="5724227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&amp; Evaluation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146745" y="6002238"/>
            <a:ext cx="538347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Present results and evaluate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8048"/>
            <a:ext cx="153904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04702"/>
            <a:ext cx="19218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METHODOLOGIES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107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Hybrid AI Methodology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849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 combines three complementary approaches — each addressing a distinct gap in traditional AI systems.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99953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0177" y="2799953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370177" y="3208635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Logistic Regression, Random Forest, and XGBoost provide the core prediction layer with high accuracy and interpretability.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99953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2617" y="2799953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Explainable AI (XAI)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922617" y="3208635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SHAP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measures global and local feature contributions.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LIME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provides instance-level explanations for individual predictions.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93915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0177" y="449391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Counterfactual Analysis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370177" y="4902597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Answers: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"What must change for the outcome to differ?"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Enables actionable what-if scenarios for users.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493915"/>
            <a:ext cx="472468" cy="472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22617" y="449391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LLM Narration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922617" y="4902597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Technical ML/XAI outputs are translated into human-readable explanations and recommendations via a Large Language Model.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27038"/>
            <a:ext cx="292549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83692"/>
            <a:ext cx="33082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ADVANCED DECISION INTELLIGENCE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89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Beyond Prediction: Robustness &amp; Fairness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6389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 integrates critical evaluation modules to ensure not just accurate, but also reliable, stable, and ethical decision support.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281362"/>
            <a:ext cx="3496877" cy="23495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 &amp; Confidence Analysis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90445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Provides prediction confidence scores and identifies important influencing factors, helping users understand the reliability of each decision.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281362"/>
            <a:ext cx="3496877" cy="23495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363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Robustness Evaluation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663363" y="390445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Checks the stability of predictions under minor changes in input conditions, ensuring consistent outcomes in dynamic environments.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281362"/>
            <a:ext cx="3496877" cy="23495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49247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Fairness Evaluation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349247" y="390445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Examines potential biases and disproportionate influence of sensitive factors, promoting equitable and ethical decision-making.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0685"/>
            <a:ext cx="2030957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605830"/>
            <a:ext cx="2459968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METHODOLOGY JUSTIFICATION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7505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Hybrid AI?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88083"/>
            <a:ext cx="1086874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single ML model is insufficient for true decision intelligence. DeciXAI's hybrid approach addresses the multifaceted demands of transparent and actionable AI.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56011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Requirement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Selected Method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Prediction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ML Models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Feature Contribution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SHAP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Local Explanation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LIME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What-if Analysis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Counterfactuals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Reliability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Confidence/Risk Analysis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Stability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Robustness Evaluation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Bias Assessment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Fairness Evaluation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Human-readable Output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LLM</a:t>
                      </a:r>
                      <a:endParaRPr lang="en-US" sz="11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5561211"/>
            <a:ext cx="10868745" cy="736104"/>
          </a:xfrm>
          <a:prstGeom prst="roundRect">
            <a:avLst>
              <a:gd name="adj" fmla="val 8594"/>
            </a:avLst>
          </a:prstGeom>
          <a:solidFill>
            <a:srgbClr val="DFEC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085" y="5732959"/>
            <a:ext cx="188213" cy="1506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0909" y="5718770"/>
            <a:ext cx="1022870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ML + XAI + LLM = Complete Decision Intelligence.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This synergy ensures decisions are not just predicted, but also understood, evaluated, and acted upon.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776"/>
            <a:ext cx="1265503" cy="17948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315" y="559197"/>
            <a:ext cx="1733407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SYSTEMATIC APPROACH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2730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Modular Development &amp; Reusability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212652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 employs a modular design, allowing for reusability of its core components across diverse domains, enhancing efficiency and scalability.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449288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521609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Explanation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414009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307495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Processing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99894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6180634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Shared XAI Kernel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is a key advantage, enabling adaptation to new domains by simply modifying the domain-specific adapter layer.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267"/>
            <a:ext cx="1281775" cy="233263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3548" y="596305"/>
            <a:ext cx="1707214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3343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Modules of DeciXAI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00485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DeciXAI is composed of specialized modules working in concert to deliver comprehensive decision intelligence.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63427"/>
            <a:ext cx="5371966" cy="13240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55335" y="197862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4012" y="2477591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Attribution Engine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4012" y="2792313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the most influential features driving predictions.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1863427"/>
            <a:ext cx="5372065" cy="13240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52016" y="197862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30692" y="2477591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Counterfactual Engine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30692" y="2792313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Generates alternative scenarios and improvement possibilities.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12220"/>
            <a:ext cx="5371966" cy="13240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55335" y="342741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34012" y="3926384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Robustness Evaluation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4012" y="4241105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Assesses prediction stability under input variations.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8155" y="3312220"/>
            <a:ext cx="5372065" cy="13240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52016" y="342741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30692" y="3926384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Fairness Evaluation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330692" y="4241105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Detects potential disparities and biases in model outcomes.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61012"/>
            <a:ext cx="5371966" cy="15467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55335" y="487620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34012" y="5375176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Natural-Language Narrative Generator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34012" y="5689898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Transforms technical outputs into understandable explanations.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8155" y="4761012"/>
            <a:ext cx="5372065" cy="154672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52016" y="487620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330692" y="5375176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 Dashboard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330692" y="5689898"/>
            <a:ext cx="502699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Displays predictions, confidence, risk, explanations, and recommendations.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2026-09-11T13:05:56Z</dcterms:created>
  <dcterms:modified xsi:type="dcterms:W3CDTF">2026-09-11T13:05:56Z</dcterms:modified>
</cp:coreProperties>
</file>